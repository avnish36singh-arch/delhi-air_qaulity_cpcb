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SIGNAL EARTH // ENVIRONMENTAL RESEARCH SUITE</a:t>
            </a:r>
          </a:p>
          <a:p>
            <a:pPr>
              <a:spcBef>
                <a:spcPts val="1500"/>
              </a:spcBef>
              <a:defRPr sz="3200" b="1">
                <a:solidFill>
                  <a:srgbClr val="F8FAFC"/>
                </a:solidFill>
              </a:defRPr>
            </a:pPr>
            <a:r>
              <a:t>Atmospheric Telemetry, Statutory NAQI &amp; Satellite LST Thermodynamics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Multi-Year Computational Investigation Across the Indo-Gangetic Basin (2017–2023)</a:t>
            </a:r>
            <a:br/>
            <a:r>
              <a:t>Featuring Central Pollution Control Board (CPCB) Formulations &amp; NASA POWER Reanalysis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Macro Findings &amp; Empirical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Summary statistics evaluated across continuous multi-year observation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1,825 Days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Total Timespan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5 Complete Years (2017-18, 2021-23) continuous daily monitoring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221.0 AQI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Mean Airshed Level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Classifies as 'Poor' health band across 1,137 CPCB statutory valid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78.80%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Non-Compliant Days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Exceed acceptable threshold (AQI &gt; 100); 36.15% in Very Poor or Severe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95.20%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Particulate Hegemony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PM2.5 (51.8%) and PM10 (43.4%) trigger peak sub-index determinations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023360"/>
            <a:ext cx="338328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R² = 0.769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24-hr Ahead Forecast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Random Forest Regressor prospective validation on out-of-time test year 2023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38328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16052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ΔT Inversion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Radiant Decoupling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Winter skin drops -0.97°C below air, capping boundary layer below 250m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DELHI NCR ATMOSPHERIC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Multi-Year AQI Trajectory &amp; CPCB Health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Reindexed daily time series removing multi-year bridging artifacts</a:t>
            </a:r>
          </a:p>
        </p:txBody>
      </p:sp>
      <p:pic>
        <p:nvPicPr>
          <p:cNvPr id="6" name="Picture 5" descr="01_aqi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CHEMICAL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Particulate Hegemony &amp; Volatile Organic Tracers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Dominant pollutant breakdown and diagnostic emission ratios</a:t>
            </a:r>
          </a:p>
        </p:txBody>
      </p:sp>
      <p:pic>
        <p:nvPicPr>
          <p:cNvPr id="6" name="Picture 5" descr="04_dominant_pollut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663440"/>
          </a:xfrm>
          <a:prstGeom prst="rect">
            <a:avLst/>
          </a:prstGeom>
        </p:spPr>
      </p:pic>
      <p:pic>
        <p:nvPicPr>
          <p:cNvPr id="7" name="Picture 6" descr="05_pm_and_btex_dynam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MULTI-PARAMETER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Inter-Component Coupling Across 19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Pearson correlation matrix trimmed of 100% missing sensor channels</a:t>
            </a:r>
          </a:p>
        </p:txBody>
      </p:sp>
      <p:pic>
        <p:nvPicPr>
          <p:cNvPr id="6" name="Picture 5" descr="02_correlation_matrix_19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8696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REMOTE SENSING &amp; THERMODYNAMICS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Kanpur Land Surface Temperature (LST) &amp; Inversion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7-Year Climatology (2017–2023) NASA POWER MERRA-2 skin-to-air thermal gradient</a:t>
            </a:r>
          </a:p>
        </p:txBody>
      </p:sp>
      <p:pic>
        <p:nvPicPr>
          <p:cNvPr id="6" name="Picture 5" descr="01_kanpur_lst_seasona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663440"/>
          </a:xfrm>
          <a:prstGeom prst="rect">
            <a:avLst/>
          </a:prstGeom>
        </p:spPr>
      </p:pic>
      <p:pic>
        <p:nvPicPr>
          <p:cNvPr id="7" name="Picture 6" descr="02_skin_vs_air_temperature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GEOSPATIAL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QGIS 3.x Vector Thermal Microclimate Zoning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Kanpur Urban Heat Island anomalies (+2.1°C) vs vegetative cooling (-0.8°C)</a:t>
            </a:r>
          </a:p>
        </p:txBody>
      </p:sp>
      <p:pic>
        <p:nvPicPr>
          <p:cNvPr id="6" name="Picture 5" descr="03_kanpur_spatial_thermal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663440"/>
          </a:xfrm>
          <a:prstGeom prst="rect">
            <a:avLst/>
          </a:prstGeom>
        </p:spPr>
      </p:pic>
      <p:pic>
        <p:nvPicPr>
          <p:cNvPr id="7" name="Picture 6" descr="04_lst_inversion_coupling_pm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PREDICTIVE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24-Hour Ahead AQI Forecasting &amp;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Out-of-time prospective testing on calendar year 2023 with zero data leakage</a:t>
            </a:r>
          </a:p>
        </p:txBody>
      </p:sp>
      <p:pic>
        <p:nvPicPr>
          <p:cNvPr id="6" name="Picture 5" descr="08_forecast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8696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OPEN ENVIRONMENTAL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Signal Earth Open-Source Repository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Fully reproducible data pipelines, GIS vectors, and scientific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400"/>
              </a:spcBef>
              <a:defRPr sz="1800" b="1">
                <a:solidFill>
                  <a:srgbClr val="06B6D4"/>
                </a:solidFill>
              </a:defRPr>
            </a:pPr>
            <a:r>
              <a:t>• Delhi NCR Atmospheric Telemetry Pipeline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  github.com/avnish36singh-arch/delhi-air_qaulity_cpcb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1,825 daily records | CPCB piecewise interpolation | 24 parameters | ML forecast</a:t>
            </a:r>
          </a:p>
          <a:p>
            <a:pPr>
              <a:spcBef>
                <a:spcPts val="1400"/>
              </a:spcBef>
              <a:defRPr sz="1800" b="1">
                <a:solidFill>
                  <a:srgbClr val="06B6D4"/>
                </a:solidFill>
              </a:defRPr>
            </a:pPr>
            <a:r>
              <a:t>• Kanpur Satellite LST &amp; QGIS Analysis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  github.com/avnish36singh-arch/Kanpur-LST-Thermal-Analysis-GIS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2,556 daily NASA POWER records | Boundary layer inversion modeling | QGIS thermal vectors</a:t>
            </a:r>
          </a:p>
          <a:p>
            <a:pPr>
              <a:spcBef>
                <a:spcPts val="1400"/>
              </a:spcBef>
              <a:defRPr sz="1800" b="1">
                <a:solidFill>
                  <a:srgbClr val="06B6D4"/>
                </a:solidFill>
              </a:defRPr>
            </a:pPr>
            <a:r>
              <a:t>• Signal Earth Environmental Portal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  github.com/avnish36singh-arch/signal-earth-portal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Unified environmental dashboard, documentation suite, and observatory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